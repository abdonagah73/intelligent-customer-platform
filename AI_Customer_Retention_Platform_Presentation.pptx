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ARTIFICIAL INTELLIGENCE COURSE PROJECT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</a:defRPr>
            </a:pPr>
            <a:r>
              <a:t>Intelligent Customer Retention Platform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شرح المعمارية الهندسية والكود البرمجي (Predictive ML • RAG Engine • MLOps Loop)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840480"/>
            <a:ext cx="10360152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👥 Project Team Members (فريق العمل):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   •  1. Abdelrahman Mohamed Nagah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   •  2. Ahmed Adel Abdelaziz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   •  3. Ahmed Waled Abdel-Satar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   •  4. Adham Maged Mohamed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COURSE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1. Architecture Overview &amp; Tech Stack (معمارية النظام والتقنيات)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Predictive ML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XGBoost Classifier + Optuna Hyperparameter Optimization</a:t>
            </a:r>
            <a:br/>
            <a:r>
              <a:t>توقع نسبة مغادرة العميل (Churn Risk Score) بدقة عالية.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Explainable AI (XAI)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SHAP TreeExplainer (Shapley Values)</a:t>
            </a:r>
            <a:br/>
            <a:r>
              <a:t>تفسير سبب التوقع واستخراج أهم 3 عوامل خطورة لكل عميل.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Generative AI &amp; RAG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FAISS Vector DB + HuggingFace (all-MiniLM-L6-v2)</a:t>
            </a:r>
            <a:br/>
            <a:r>
              <a:t>البحث المتجهي وتوليد خطط استبقاء ذكية ومخصصة (RAG Briefing).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Serving &amp; Backend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FastAPI ASGI Server + Pydantic Type Validation</a:t>
            </a:r>
            <a:br/>
            <a:r>
              <a:t>سيرفر API عالي الأداء يدعم المعالجة السريعة ونمط الهجين.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MLOps &amp; RLHF Loop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SQLite RLHF Outcomes + Sample Reweighter (weight=2.0)</a:t>
            </a:r>
            <a:br/>
            <a:r>
              <a:t>التعلّم المستمر من نتائج التفاعل وإعادة التدريب التلقائي.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COURSE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2. Step 1: Feature Engineering &amp; Preprocessing (معالجة البيانات)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💡 الشرح وتدفق البيانات (Concept &amp; Workflow):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يقوم هذا الجزء بتحويل البيانات الخام إلى مصفوفات رقمية متوافقة مع نموذج XGBoost عبر استخدام StandardScaler للأرقام و OneHotEncoder للنصوص مع ضمان التحويل الإجباري لـ float لمنع أخطاء Types.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Key Implementation Points: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StandardScaler standardizes numerical ranges (tenure, MonthlyCharges).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OneHotEncoder expands categorical options into binary indicator columns.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reindex(columns=feature_names) enforces exact column contract.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astype(float) prevents XGBoost object-type mismatch crashes.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💻 Code Implementation: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# src/serving/main.py (preprocess_single_customer)</a:t>
            </a:r>
            <a:br/>
            <a:r>
              <a:t>yes_no_cols = ["Partner", "Dependents", "PhoneService", "PaperlessBilling"]</a:t>
            </a:r>
            <a:br/>
            <a:r>
              <a:t>for col in yes_no_cols:</a:t>
            </a:r>
            <a:br/>
            <a:r>
              <a:t>    if col in cust_df.columns:</a:t>
            </a:r>
            <a:br/>
            <a:r>
              <a:t>        cust_df[col] = cust_df[col].replace({"Yes": 1, "No": 0})</a:t>
            </a:r>
            <a:br/>
            <a:br/>
            <a:r>
              <a:t># 1. Scale Numerical Features</a:t>
            </a:r>
            <a:br/>
            <a:r>
              <a:t>scaled_nums = scaler.transform(cust_df[numerical_cols])</a:t>
            </a:r>
            <a:br/>
            <a:r>
              <a:t>scaled_num_df = pd.DataFrame(scaled_nums, columns=numerical_cols)</a:t>
            </a:r>
            <a:br/>
            <a:br/>
            <a:r>
              <a:t># 2. One-Hot Encode Categorical Features</a:t>
            </a:r>
            <a:br/>
            <a:r>
              <a:t>encoded_cats = encoder.transform(cust_df[categorical_cols])</a:t>
            </a:r>
            <a:br/>
            <a:r>
              <a:t>encoded_cat_df = pd.DataFrame(encoded_cats, columns=encoder.get_feature_names_out())</a:t>
            </a:r>
            <a:br/>
            <a:br/>
            <a:r>
              <a:t># 3. Concatenate and cast all columns to numeric float</a:t>
            </a:r>
            <a:br/>
            <a:r>
              <a:t>X_cust = pd.concat([scaled_num_df, encoded_cat_df, df_other], axis=1)</a:t>
            </a:r>
            <a:br/>
            <a:r>
              <a:t>X_cust = X_cust.reindex(columns=feature_names, fill_value=0)</a:t>
            </a:r>
            <a:br/>
            <a:r>
              <a:t>X_cust = X_cust.apply(pd.to_numeric, errors="coerce").fillna(0.0).astype(float)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COURSE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Step 2: Predictive Machine Learning (XGBoost Training)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💡 الشرح وتدفق البيانات (Concept &amp; Workflow):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تم تدريب نموذج XGBoost Classifier مع ضبط المتغيرات الفائقة عبر مكتبة Optuna لتحقيق أعلى معدل استدعاء (Recall=99.47%) وحساب احتمال المغادرة (Churn Score).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Key Implementation Points: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Optuna automates hyperparameter tuning over 100 trials.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Cost-sensitive threshold (0.16/0.32) maximizes financial ROI.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predict_proba returns calibrated probability of customer churn.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Confidence metric represents distance from optimal threshold.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💻 Code Implementation: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# src/models/train_xgboost.py</a:t>
            </a:r>
            <a:br/>
            <a:r>
              <a:t>import xgboost as xgb</a:t>
            </a:r>
            <a:br/>
            <a:r>
              <a:t>import optuna</a:t>
            </a:r>
            <a:br/>
            <a:br/>
            <a:r>
              <a:t>def objective(trial):</a:t>
            </a:r>
            <a:br/>
            <a:r>
              <a:t>    params = {</a:t>
            </a:r>
            <a:br/>
            <a:r>
              <a:t>        'n_estimators': trial.suggest_int('n_estimators', 100, 500),</a:t>
            </a:r>
            <a:br/>
            <a:r>
              <a:t>        'max_depth': trial.suggest_int('max_depth', 3, 9),</a:t>
            </a:r>
            <a:br/>
            <a:r>
              <a:t>        'learning_rate': trial.suggest_float('learning_rate', 0.01, 0.2),</a:t>
            </a:r>
            <a:br/>
            <a:r>
              <a:t>        'subsample': trial.suggest_float('subsample', 0.6, 1.0)</a:t>
            </a:r>
            <a:br/>
            <a:r>
              <a:t>    }</a:t>
            </a:r>
            <a:br/>
            <a:r>
              <a:t>    model = xgb.XGBClassifier(**params, random_state=42)</a:t>
            </a:r>
            <a:br/>
            <a:r>
              <a:t>    model.fit(X_train, y_train)</a:t>
            </a:r>
            <a:br/>
            <a:r>
              <a:t>    preds = model.predict_proba(X_val)[:, 1]</a:t>
            </a:r>
            <a:br/>
            <a:r>
              <a:t>    return roc_auc_score(y_val, preds)</a:t>
            </a:r>
            <a:br/>
            <a:br/>
            <a:r>
              <a:t># Inference execution in FastAPI</a:t>
            </a:r>
            <a:br/>
            <a:r>
              <a:t>prob = float(model.predict_proba(X_cust)[0, 1])</a:t>
            </a:r>
            <a:br/>
            <a:r>
              <a:t>confidence = min(1.0, max(0.0, float(np.abs(prob - optimal_threshold) * 2.0)))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COURSE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4. Step 3: Explainable AI with SHAP (تفسير القرارات مع SHAP)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💡 الشرح وتدفق البيانات (Concept &amp; Workflow):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لضمان الشفافية، يتم استخدام SHAP TreeExplainer لحساب قيم Shapley لكل خاصية، واستخراج أهم 3 عوامل خطورة تؤثر على قرار العميل بشكل مباشر.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Key Implementation Points: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Shapley Values measure exact marginal contribution of each feature.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TreeExplainer provides fast, exact SHAP computation for XGBoost.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argsort(np.abs(vals)) ranks features by impact magnitude.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Returns human-interpretable risk drivers (#1 tenure, #2 Contract).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💻 Code Implementation: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# src/serving/main.py (SHAP Risk Drivers)</a:t>
            </a:r>
            <a:br/>
            <a:r>
              <a:t>import shap</a:t>
            </a:r>
            <a:br/>
            <a:br/>
            <a:r>
              <a:t># Initialize TreeExplainer on startup</a:t>
            </a:r>
            <a:br/>
            <a:r>
              <a:t>explainer = shap.TreeExplainer(model)</a:t>
            </a:r>
            <a:br/>
            <a:br/>
            <a:r>
              <a:t># Calculate SHAP values for single customer vector</a:t>
            </a:r>
            <a:br/>
            <a:r>
              <a:t>shap_raw = explainer.shap_values(X_cust)</a:t>
            </a:r>
            <a:br/>
            <a:r>
              <a:t>if isinstance(shap_raw, list):</a:t>
            </a:r>
            <a:br/>
            <a:r>
              <a:t>    shap_vals = shap_raw[1][0] if len(shap_raw) &gt; 1 else shap_raw[0][0]</a:t>
            </a:r>
            <a:br/>
            <a:r>
              <a:t>else:</a:t>
            </a:r>
            <a:br/>
            <a:r>
              <a:t>    shap_vals = shap_raw[0] if len(shap_raw.shape) &gt; 1 else shap_raw</a:t>
            </a:r>
            <a:br/>
            <a:br/>
            <a:r>
              <a:t># Get top 3 absolute impact feature indices</a:t>
            </a:r>
            <a:br/>
            <a:r>
              <a:t>top_indices = np.argsort(np.abs(shap_vals))[::-1][:3]</a:t>
            </a:r>
            <a:br/>
            <a:r>
              <a:t>top_drivers = [feature_names[idx] for idx in top_indices]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COURSE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5. Step 4: Retrieval-Augmented Generation (توليد توصيات RAG)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💡 الشرح وتدفق البيانات (Concept &amp; Workflow):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عند تجاوز نسبة الخطر للحد المطلوب، يقوم محرك RAG بالبحث المتجهي في قاعدة بيانات FAISS عن أفضل استراتيجيات التوصية المقترحة وتوليد التقرير المخصص لموظف خدمة العملاء.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Key Implementation Points: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HuggingFace sentence-transformers encodes strategies into 384-d vectors.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FAISS executes ultra-fast cosine similarity search.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Retrieves empirical playbook strategies matching customer profile.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Combines SHAP drivers + retrieved context into actionable agent briefing.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💻 Code Implementation: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# src/RAG/rag_pipeline.py</a:t>
            </a:r>
            <a:br/>
            <a:r>
              <a:t>from langchain_community.vectorstores import FAISS</a:t>
            </a:r>
            <a:br/>
            <a:r>
              <a:t>from langchain_community.embeddings import HuggingFaceEmbeddings</a:t>
            </a:r>
            <a:br/>
            <a:br/>
            <a:r>
              <a:t>class RAGPipeline:</a:t>
            </a:r>
            <a:br/>
            <a:r>
              <a:t>    def __init__(self):</a:t>
            </a:r>
            <a:br/>
            <a:r>
              <a:t>        self.embeddings = HuggingFaceEmbeddings(</a:t>
            </a:r>
            <a:br/>
            <a:r>
              <a:t>            model_name="sentence-transformers/all-MiniLM-L6-v2"</a:t>
            </a:r>
            <a:br/>
            <a:r>
              <a:t>        )</a:t>
            </a:r>
            <a:br/>
            <a:r>
              <a:t>        self.vector_db = FAISS.load_local("data/vector_db", self.embeddings)</a:t>
            </a:r>
            <a:br/>
            <a:r>
              <a:t>        </a:t>
            </a:r>
            <a:br/>
            <a:r>
              <a:t>    def generate_briefing(self, customer_id, clean_dict, top_drivers):</a:t>
            </a:r>
            <a:br/>
            <a:r>
              <a:t>        query = f"customer tenure {clean_dict.get('tenure')} months {clean_dict.get('Contract')} contract"</a:t>
            </a:r>
            <a:br/>
            <a:r>
              <a:t>        docs = self.vector_db.similarity_search(query, k=2)</a:t>
            </a:r>
            <a:br/>
            <a:r>
              <a:t>        retrieved_context = docs[0].page_content</a:t>
            </a:r>
            <a:br/>
            <a:r>
              <a:t>        </a:t>
            </a:r>
            <a:br/>
            <a:r>
              <a:t>        return f"This customer is at high risk due to {top_drivers}. Strategy: {retrieved_context}"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COURSE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6. Step 5: Serving API &amp; Pydantic Validation (بناء الـ API)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💡 الشرح وتدفق البيانات (Concept &amp; Workflow):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سيرفر FastAPI يوفر نقاط اتصال HTTP REST خفيفة وسريعة، مع استخدام Pydantic للتحقق من أنماط البيانات الواردة ودعم القيم الرقمية والنصية بحرية.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Key Implementation Points: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Async ASGI architecture ensures high-concurrency request handling.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Pydantic schema validates incoming JSON types flexibly.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Automatic OpenAPI / Swagger documentation at /docs.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Unified endpoint returning score, SHAP drivers, and RAG briefing.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💻 Code Implementation: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# src/serving/main.py</a:t>
            </a:r>
            <a:br/>
            <a:r>
              <a:t>from fastapi import FastAPI, HTTPException</a:t>
            </a:r>
            <a:br/>
            <a:r>
              <a:t>from pydantic import BaseModel</a:t>
            </a:r>
            <a:br/>
            <a:r>
              <a:t>from typing import Optional, Union</a:t>
            </a:r>
            <a:br/>
            <a:br/>
            <a:r>
              <a:t>class PredictRequest(BaseModel):</a:t>
            </a:r>
            <a:br/>
            <a:r>
              <a:t>    customerID: str</a:t>
            </a:r>
            <a:br/>
            <a:r>
              <a:t>    tenure: Optional[int] = None</a:t>
            </a:r>
            <a:br/>
            <a:r>
              <a:t>    MonthlyCharges: Optional[float] = None</a:t>
            </a:r>
            <a:br/>
            <a:r>
              <a:t>    TotalCharges: Optional[Union[str, float, int]] = None</a:t>
            </a:r>
            <a:br/>
            <a:r>
              <a:t>    Contract: Optional[str] = None</a:t>
            </a:r>
            <a:br/>
            <a:br/>
            <a:r>
              <a:t>@app.post("/predict")</a:t>
            </a:r>
            <a:br/>
            <a:r>
              <a:t>def predict_churn(request: PredictRequest):</a:t>
            </a:r>
            <a:br/>
            <a:r>
              <a:t>    customer_row = request.model_dump()</a:t>
            </a:r>
            <a:br/>
            <a:r>
              <a:t>    X_cust, clean_dict = preprocess_single_customer(customer_row)</a:t>
            </a:r>
            <a:br/>
            <a:r>
              <a:t>    prob = float(model.predict_proba(X_cust)[0, 1])</a:t>
            </a:r>
            <a:br/>
            <a:r>
              <a:t>    top_drivers = get_top_shap_drivers(X_cust)</a:t>
            </a:r>
            <a:br/>
            <a:r>
              <a:t>    recommendation = rag_pipeline.generate_briefing(request.customerID, clean_dict, top_drivers)</a:t>
            </a:r>
            <a:br/>
            <a:r>
              <a:t>    return {"churn_score": prob, "top_3_shap_drivers": top_drivers, "recommended_action": recommendation}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COURSE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7. Step 6: Closed-Loop MLOps &amp; RLHF Tracking (التعلّم المستمر)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💡 الشرح وتدفق البيانات (Concept &amp; Workflow):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يتم تسجيل نتائج تفاعل موظفي خدمة العملاء (Retained / Churned) في قاعدة بيانات rlhf_outcomes.db، ثم حساب أوزان العينات (Sample Weights) لإعادة التدريب التلقائي وتطوير النموذج مع الوقت.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Key Implementation Points: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RLHF: Reinforcement Learning from Human Feedback.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Outcome=1 (Retained) receives 2.0x weight during retrain.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Outcome=0 (Churned) receives 0.5x weight to adjust boundaries.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Continuous automated retraining pipeline ensures non-decaying precision.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💻 Code Implementation: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# src/mlops/rlhf_reweighter.py</a:t>
            </a:r>
            <a:br/>
            <a:r>
              <a:t>def compute_sample_weights(customer_ids, db_path="data/rlhf_outcomes.db"):</a:t>
            </a:r>
            <a:br/>
            <a:r>
              <a:t>    weights = np.ones(len(customer_ids))</a:t>
            </a:r>
            <a:br/>
            <a:r>
              <a:t>    conn = sqlite3.connect(db_path)</a:t>
            </a:r>
            <a:br/>
            <a:r>
              <a:t>    outcomes_df = pd.read_sql_query("SELECT customer_id, outcome FROM rlhf_outcomes", conn)</a:t>
            </a:r>
            <a:br/>
            <a:r>
              <a:t>    latest_outcomes = outcomes_df.groupby("customer_id")["outcome"].last().to_dict()</a:t>
            </a:r>
            <a:br/>
            <a:r>
              <a:t>    </a:t>
            </a:r>
            <a:br/>
            <a:r>
              <a:t>    for idx, cid in enumerate(customer_ids):</a:t>
            </a:r>
            <a:br/>
            <a:r>
              <a:t>        if cid in latest_outcomes:</a:t>
            </a:r>
            <a:br/>
            <a:r>
              <a:t>            if latest_outcomes[cid] == 1:</a:t>
            </a:r>
            <a:br/>
            <a:r>
              <a:t>                # Upweight successful retention interventions</a:t>
            </a:r>
            <a:br/>
            <a:r>
              <a:t>                weights[idx] = 2.0</a:t>
            </a:r>
            <a:br/>
            <a:r>
              <a:t>            else:</a:t>
            </a:r>
            <a:br/>
            <a:r>
              <a:t>                # Downweight failed interventions</a:t>
            </a:r>
            <a:br/>
            <a:r>
              <a:t>                weights[idx] = 0.5</a:t>
            </a:r>
            <a:br/>
            <a:r>
              <a:t>    return weights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COURSE 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8. Step 7: Hybrid Web UI &amp; Client-Side Fallback (الموقع والوضع الهجين)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💡 الشرح وتدفق البيانات (Concept &amp; Workflow):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تم بناء واجهة الويب بتقنيات Glassmorphism ودعم النمط الهجين: يحاول الاتصال بسيرفر FastAPI أولاً، وفي حالة الاستضافة على GitHub Pages يتحول تلقائياً لمحرك استنتاج محلي داخل المتصفح.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Key Implementation Points: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100% Standalone compatibility with GitHub Pages static hosting.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Seamless fallback prevents alert crashes or network errors.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Custom Glassmorphism Modals &amp; Toasts replace native browser alerts.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Interactive SHAP drivers highlight target form inputs on click.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594360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💻 Code Implementation: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// web/index.html (Hybrid Fetch &amp; Fallback Engine)</a:t>
            </a:r>
            <a:br/>
            <a:r>
              <a:t>let data;</a:t>
            </a:r>
            <a:br/>
            <a:r>
              <a:t>try {</a:t>
            </a:r>
            <a:br/>
            <a:r>
              <a:t>    const res = await fetch('/predict', {</a:t>
            </a:r>
            <a:br/>
            <a:r>
              <a:t>        method: 'POST',</a:t>
            </a:r>
            <a:br/>
            <a:r>
              <a:t>        headers: { 'Content-Type': 'application/json' },</a:t>
            </a:r>
            <a:br/>
            <a:r>
              <a:t>        body: JSON.stringify(reqPayload)</a:t>
            </a:r>
            <a:br/>
            <a:r>
              <a:t>    });</a:t>
            </a:r>
            <a:br/>
            <a:r>
              <a:t>    data = await res.json();</a:t>
            </a:r>
            <a:br/>
            <a:r>
              <a:t>} catch (err) {</a:t>
            </a:r>
            <a:br/>
            <a:r>
              <a:t>    console.warn("API offline. Running Client-Side Model Engine for static GitHub Pages:");</a:t>
            </a:r>
            <a:br/>
            <a:r>
              <a:t>    let score = 0.15;</a:t>
            </a:r>
            <a:br/>
            <a:r>
              <a:t>    if (reqPayload.Contract === "Month-to-month") score += 0.35;</a:t>
            </a:r>
            <a:br/>
            <a:r>
              <a:t>    if (reqPayload.tenure &lt;= 6) score += 0.25;</a:t>
            </a:r>
            <a:br/>
            <a:r>
              <a:t>    if (reqPayload.InternetService === "Fiber optic") score += 0.12;</a:t>
            </a:r>
            <a:br/>
            <a:r>
              <a:t>    score = Math.min(0.96, Math.max(0.04, score));</a:t>
            </a:r>
            <a:br/>
            <a:r>
              <a:t>    data = { churn_score: score, top_3_shap_drivers: ["tenure", "Contract", "TechSupport"] };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9. Conclusion &amp; Engineering Achievements (الخلاصة والنتائج)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0.8317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ROC-AUC Score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دقة تصنيف واستجابة عالية للنموذج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99.47%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At-Risk Recall Rate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القدرة على اكتشاف كل العملاء المعرضين للخروج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1206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0.16 / 0.32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Optimal Threshold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حد القرار الأمثل لتعظيم الفائدة المالية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108960"/>
            <a:ext cx="51206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$4.15 Million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Projected Net ROI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العائد المالي المتوقع بعد توفير تكاليف الاستبقاء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Thank You! (شكراً لكم على الاستماع) - Open for Questions &amp; Discussion 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